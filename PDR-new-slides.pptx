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DESIGN INNOVATION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069080" y="0"/>
            <a:ext cx="5074920" cy="658368"/>
          </a:xfrm>
          <a:prstGeom prst="rect">
            <a:avLst/>
          </a:prstGeom>
          <a:solidFill>
            <a:srgbClr val="8E1A1A"/>
          </a:solidFill>
          <a:ln/>
        </p:spPr>
      </p:sp>
      <p:sp>
        <p:nvSpPr>
          <p:cNvPr id="4" name="Text 2"/>
          <p:cNvSpPr/>
          <p:nvPr/>
        </p:nvSpPr>
        <p:spPr>
          <a:xfrm>
            <a:off x="4160520" y="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Subsystem — Drive &amp; Layout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566160" cy="3520440"/>
          </a:xfrm>
          <a:prstGeom prst="rect">
            <a:avLst/>
          </a:prstGeom>
          <a:solidFill>
            <a:srgbClr val="FCF6F1"/>
          </a:solidFill>
          <a:ln w="15875">
            <a:solidFill>
              <a:srgbClr val="66666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trolley footprint (above AMR)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51560" y="1463040"/>
            <a:ext cx="2468880" cy="26974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8E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00200"/>
            <a:ext cx="320040" cy="731520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1600200"/>
            <a:ext cx="320040" cy="731520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3520440"/>
            <a:ext cx="320040" cy="731520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3520440"/>
            <a:ext cx="320040" cy="731520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224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</a:rPr>
              <a:t>4× mecanum wheels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43000" y="1554480"/>
            <a:ext cx="274320" cy="274320"/>
          </a:xfrm>
          <a:prstGeom prst="ellipse">
            <a:avLst/>
          </a:prstGeom>
          <a:solidFill>
            <a:srgbClr val="8E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54680" y="1554480"/>
            <a:ext cx="274320" cy="274320"/>
          </a:xfrm>
          <a:prstGeom prst="ellipse">
            <a:avLst/>
          </a:prstGeom>
          <a:solidFill>
            <a:srgbClr val="8E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43000" y="3749040"/>
            <a:ext cx="274320" cy="274320"/>
          </a:xfrm>
          <a:prstGeom prst="ellipse">
            <a:avLst/>
          </a:prstGeom>
          <a:solidFill>
            <a:srgbClr val="8E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4680" y="3749040"/>
            <a:ext cx="274320" cy="274320"/>
          </a:xfrm>
          <a:prstGeom prst="ellipse">
            <a:avLst/>
          </a:prstGeom>
          <a:solidFill>
            <a:srgbClr val="8E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88720" y="2377440"/>
            <a:ext cx="2194560" cy="128016"/>
          </a:xfrm>
          <a:prstGeom prst="rect">
            <a:avLst/>
          </a:prstGeom>
          <a:solidFill>
            <a:srgbClr val="F2C4C4"/>
          </a:solidFill>
          <a:ln w="9525">
            <a:solidFill>
              <a:srgbClr val="8E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3063240"/>
            <a:ext cx="2194560" cy="128016"/>
          </a:xfrm>
          <a:prstGeom prst="rect">
            <a:avLst/>
          </a:prstGeom>
          <a:solidFill>
            <a:srgbClr val="F2C4C4"/>
          </a:solidFill>
          <a:ln w="9525">
            <a:solidFill>
              <a:srgbClr val="8E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5786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1A1A"/>
                </a:solidFill>
              </a:rPr>
              <a:t>arm extension rails (clamp subsystem)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83080" y="3520440"/>
            <a:ext cx="1005840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</a:rPr>
              <a:t>36V 10Ah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46268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1A1A"/>
                </a:solidFill>
              </a:rPr>
              <a:t>●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</a:rPr>
              <a:t>  upward-facing VL53L0X time-of-flight distance sensor — one per corner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914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A1A"/>
                </a:solidFill>
              </a:rPr>
              <a:t>Why a mecanum base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34840" y="1207008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Strafes sideways — lateral centring under the trolley is one direct move, no shuffling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Rotates in place — zero turning radius; directly answers the tow-tractor “needs turning space” gap from State of the Art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Same 4 wheels perform approach, orient and centre — no extra actuators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34840" y="25420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A1A"/>
                </a:solidFill>
              </a:rPr>
              <a:t>Sensing on the base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34840" y="279806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4× VL53L0X time-of-flight distance sensors face upward at the corners — front-left, front-right, rear-left, rear-right — connected through a TCA9548A I²C multiplexer. These alone drive the alignment sequence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34840" y="34564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A1A"/>
                </a:solidFill>
              </a:rPr>
              <a:t>Power chain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34840" y="37490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36V 10Ah battery feeds three buck converters in parallel — 24V, 12V and 5V rails, each tapped directly off the battery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4315968"/>
            <a:ext cx="4343400" cy="566928"/>
          </a:xfrm>
          <a:prstGeom prst="roundRect">
            <a:avLst>
              <a:gd name="adj" fmla="val 11290"/>
            </a:avLst>
          </a:prstGeom>
          <a:solidFill>
            <a:srgbClr val="FAE3E3"/>
          </a:solidFill>
          <a:ln w="12700">
            <a:solidFill>
              <a:srgbClr val="8E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3159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1A1A"/>
                </a:solidFill>
              </a:rPr>
              <a:t>Height budget: 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190 mm measured vs ≤ 200 mm clearance — validated on physical chassis with metre rule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DESIGN INNOVATION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069080" y="0"/>
            <a:ext cx="5074920" cy="658368"/>
          </a:xfrm>
          <a:prstGeom prst="rect">
            <a:avLst/>
          </a:prstGeom>
          <a:solidFill>
            <a:srgbClr val="8E1A1A"/>
          </a:solidFill>
          <a:ln/>
        </p:spPr>
      </p:sp>
      <p:sp>
        <p:nvSpPr>
          <p:cNvPr id="4" name="Text 2"/>
          <p:cNvSpPr/>
          <p:nvPr/>
        </p:nvSpPr>
        <p:spPr>
          <a:xfrm>
            <a:off x="4160520" y="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Architecture — Dual ESP32 over UART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25400">
            <a:solidFill>
              <a:srgbClr val="8E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1A1A"/>
                </a:solidFill>
              </a:rPr>
              <a:t>BASE ESP32-S3  ·  coordinator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Docking state machine + safety monitor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Mecanum wheel mixing → 4× driving motors (BTS7960 drivers)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4× corner time-of-flight sensors via I²C multiplexer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AS5600 wheel encoders + BNO085 inertial measurement unit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25400">
            <a:solidFill>
              <a:srgbClr val="8E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042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1A1A"/>
                </a:solidFill>
              </a:rPr>
              <a:t>ARM ESP32  ·  clamp subsystem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23560" y="1325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Arm extension belt motor + rails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Hook-flip servos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In-arm time-of-flight sensors (edge detection)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Limit switches (confirm travel only)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042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A1A"/>
                </a:solidFill>
              </a:rPr>
              <a:t>direct UART serial link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03320" y="1600200"/>
            <a:ext cx="1737360" cy="0"/>
          </a:xfrm>
          <a:prstGeom prst="line">
            <a:avLst/>
          </a:prstGeom>
          <a:noFill/>
          <a:ln w="31750">
            <a:solidFill>
              <a:srgbClr val="8E1A1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657600" y="1344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1A1A"/>
                </a:solidFill>
              </a:rPr>
              <a:t>commands: extend · flip · release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03320" y="2240280"/>
            <a:ext cx="1737360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3657600" y="2304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acknowledge · limit status · faults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2633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B2B2B"/>
                </a:solidFill>
              </a:rPr>
              <a:t>this serial link is the clamp-interface boundary in the firmware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310128"/>
            <a:ext cx="8321040" cy="457200"/>
          </a:xfrm>
          <a:prstGeom prst="roundRect">
            <a:avLst>
              <a:gd name="adj" fmla="val 14000"/>
            </a:avLst>
          </a:prstGeom>
          <a:solidFill>
            <a:srgbClr val="8E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10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FAILS SAFE: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base ESP32 is the single clamp authority — no acknowledgement → no clamp motion · missed response → timeout → fault state (drive braked, clamp stopped)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8770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1A1A"/>
                </a:solidFill>
              </a:rPr>
              <a:t>Power distribution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4169664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AE3E3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696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</a:rPr>
              <a:t>36V 10Ah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</a:rPr>
              <a:t>battery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15568" y="4041648"/>
            <a:ext cx="0" cy="128016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" y="4041648"/>
            <a:ext cx="7040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31820" y="4041648"/>
            <a:ext cx="0" cy="128016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68880" y="4169664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169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</a:rPr>
              <a:t>24V buck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69180" y="4041648"/>
            <a:ext cx="0" cy="128016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06240" y="4169664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169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</a:rPr>
              <a:t>12V buck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06540" y="4041648"/>
            <a:ext cx="0" cy="128016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0" y="4169664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169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</a:rPr>
              <a:t>5V buck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3813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36V bus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56448" y="4041648"/>
            <a:ext cx="0" cy="128016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98080" y="4169664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4169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</a:rPr>
              <a:t>driving motors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</a:rPr>
              <a:t>(36V direct)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7914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</a:rPr>
              <a:t>Driving motors and all three converter rails tap the 36V battery bus directly (parallel, not daisy-chained) — one converter failing cannot drag down another rail.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DESIGN INNOVATION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069080" y="0"/>
            <a:ext cx="5074920" cy="658368"/>
          </a:xfrm>
          <a:prstGeom prst="rect">
            <a:avLst/>
          </a:prstGeom>
          <a:solidFill>
            <a:srgbClr val="8E1A1A"/>
          </a:solidFill>
          <a:ln/>
        </p:spPr>
      </p:sp>
      <p:sp>
        <p:nvSpPr>
          <p:cNvPr id="4" name="Text 2"/>
          <p:cNvSpPr/>
          <p:nvPr/>
        </p:nvSpPr>
        <p:spPr>
          <a:xfrm>
            <a:off x="4160520" y="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— Autonomous Centring Sequence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8E1A1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APPROACH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4904" y="1490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drive forward until a front-corner time-of-flight sensor sees the trolley's near edge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09928" y="1188720"/>
            <a:ext cx="146304" cy="0"/>
          </a:xfrm>
          <a:prstGeom prst="line">
            <a:avLst/>
          </a:prstGeom>
          <a:noFill/>
          <a:ln w="25400">
            <a:solidFill>
              <a:srgbClr val="8E1A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56232" y="96012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8E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856232" y="960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ORIENT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19656" y="1490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rotate toward the lagging corner until BOTH front corners see the board (yaw aligned, sensor-only)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188720"/>
            <a:ext cx="146304" cy="0"/>
          </a:xfrm>
          <a:prstGeom prst="line">
            <a:avLst/>
          </a:prstGeom>
          <a:noFill/>
          <a:ln w="25400">
            <a:solidFill>
              <a:srgbClr val="8E1A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00984" y="96012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8E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300984" y="960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CENTER_X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490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mark near edge, drive to far edge, return to the midpoint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99432" y="1188720"/>
            <a:ext cx="146304" cy="0"/>
          </a:xfrm>
          <a:prstGeom prst="line">
            <a:avLst/>
          </a:prstGeom>
          <a:noFill/>
          <a:ln w="25400">
            <a:solidFill>
              <a:srgbClr val="8E1A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45736" y="96012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8E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745736" y="960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CENTER_Y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1490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strafe to find both side edges, drive to the midpoint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44184" y="1188720"/>
            <a:ext cx="146304" cy="0"/>
          </a:xfrm>
          <a:prstGeom prst="line">
            <a:avLst/>
          </a:prstGeom>
          <a:noFill/>
          <a:ln w="25400">
            <a:solidFill>
              <a:srgbClr val="8E1A1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90488" y="96012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8E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488" y="960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CONFIRM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53912" y="1490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all 4 corners in band, held for the full confirm period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88936" y="1188720"/>
            <a:ext cx="146304" cy="0"/>
          </a:xfrm>
          <a:prstGeom prst="line">
            <a:avLst/>
          </a:prstGeom>
          <a:noFill/>
          <a:ln w="25400">
            <a:solidFill>
              <a:srgbClr val="8E1A1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96012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5E0F0F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9601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CLAMP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98664" y="1490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</a:rPr>
              <a:t>handoff to arm ESP32 over the serial link — only if confirmed and no faults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22128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0F0F"/>
                </a:solidFill>
              </a:rPr>
              <a:t>any fault / per-phase timeout → FAULT: drive disabled + braked, clamp stopped · ABORT clears the latch → IDLE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670048"/>
            <a:ext cx="40690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67004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1A1A"/>
                </a:solidFill>
              </a:rPr>
              <a:t>How a corner “sees” the board
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Time-of-flight reading valid AND inside a height band, debounced over several samples — a single spike can't flip it. Solid trolley board → continuous, reliable returns.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670048"/>
            <a:ext cx="40690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8E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67004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1A1A"/>
                </a:solidFill>
              </a:rPr>
              <a:t>Why centring is calibration-proof
</a:t>
            </a:r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Both edges are measured by the same odometry integrator, and we drive to their midpoint — any calibration scale error cancels out.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913632"/>
            <a:ext cx="8321040" cy="932688"/>
          </a:xfrm>
          <a:prstGeom prst="roundRect">
            <a:avLst>
              <a:gd name="adj" fmla="val 6863"/>
            </a:avLst>
          </a:prstGeom>
          <a:solidFill>
            <a:srgbClr val="8E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913632"/>
            <a:ext cx="7909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 INTERLOCK — the clamp physically cannot engage unless: 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alignment CONFIRMED (sustained)  &amp;&amp;  no motor / overcurrent fault.   Limit switches confirm clamp travel only — they never authorise clamping.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DESIGN INNOVATION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069080" y="0"/>
            <a:ext cx="5074920" cy="658368"/>
          </a:xfrm>
          <a:prstGeom prst="rect">
            <a:avLst/>
          </a:prstGeom>
          <a:solidFill>
            <a:srgbClr val="8E1A1A"/>
          </a:solidFill>
          <a:ln/>
        </p:spPr>
      </p:sp>
      <p:sp>
        <p:nvSpPr>
          <p:cNvPr id="4" name="Text 2"/>
          <p:cNvSpPr/>
          <p:nvPr/>
        </p:nvSpPr>
        <p:spPr>
          <a:xfrm>
            <a:off x="4160520" y="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Subsystem — Test Plan &amp; Validation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2377440"/>
                <a:gridCol w="23774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E0F0F"/>
                          </a:solidFill>
                        </a:rPr>
                        <a:t>Base test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E0F0F"/>
                          </a:solidFill>
                        </a:rPr>
                        <a:t>Requirement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E0F0F"/>
                          </a:solidFill>
                        </a:rPr>
                        <a:t>Protocol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E0F0F"/>
                          </a:solidFill>
                        </a:rPr>
                        <a:t>Pass criteria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E0F0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4C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Height clearance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≤ 200 mm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Side-profile measurement with metre rule + photo evidence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190 mm → 10 mm margin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Measured — confirm photo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Worst-case caster misalignment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Moves for all 4 caster orientations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Manually misalign all 4 trolley casters, command straight drive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Moves off cleanly, no wheel slip (model: 3.0× traction margin)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Loaded movement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≥ 100 kg payload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Timed 10 m drive, 100 kg deadweight, Fablab floor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Completes run without stall or slip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Speed under 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≥ 0.3 m/s (target 0.5–0.7)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Distance-over-time across 5 m, fully loaded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v ≥ 0.5 m/s (model: 4.4× torque margin)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Alignment repeatability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Centred before clamp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10 docking runs from randomised offset + rotation starts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CONFIRM state reached every run; centring offset within tolerance — report mean ± standard deviation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E1A1A"/>
                          </a:solidFill>
                        </a:rPr>
                        <a:t>NEW — add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Serial link fail-safe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No unsafe clamp action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Disconnect the serial wires between the two ESP32s mid-docking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Zero clamp motion; fault state within timeout; drive braked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E1A1A"/>
                          </a:solidFill>
                        </a:rPr>
                        <a:t>NEW — add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</a:rPr>
                        <a:t>Fault injection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Safe stop from any 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Trigger a motor / overcurrent fault during drive and during clamp handoff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</a:rPr>
                        <a:t>Drive braked + clamp stopped; restart only after explicit ABORT clear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E1A1A"/>
                          </a:solidFill>
                        </a:rPr>
                        <a:t>NEW — add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</a:rPr>
              <a:t>Mirror the clamp-force experiment format: at least 5 trials per test, report mean ± standard deviation and pass rate — the same statistical rigour reviewers saw on the clamping slide.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2026-08-11T06:54:20Z</dcterms:created>
  <dcterms:modified xsi:type="dcterms:W3CDTF">2026-08-11T06:54:20Z</dcterms:modified>
</cp:coreProperties>
</file>